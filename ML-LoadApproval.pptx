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56" r:id="rId5"/>
    <p:sldId id="277" r:id="rId6"/>
    <p:sldId id="258" r:id="rId7"/>
    <p:sldId id="290" r:id="rId8"/>
    <p:sldId id="264" r:id="rId9"/>
    <p:sldId id="291" r:id="rId10"/>
    <p:sldId id="268" r:id="rId11"/>
    <p:sldId id="286" r:id="rId12"/>
    <p:sldId id="262" r:id="rId13"/>
    <p:sldId id="279" r:id="rId14"/>
    <p:sldId id="260" r:id="rId15"/>
    <p:sldId id="293" r:id="rId16"/>
    <p:sldId id="294" r:id="rId17"/>
    <p:sldId id="292" r:id="rId18"/>
    <p:sldId id="295" r:id="rId19"/>
    <p:sldId id="296" r:id="rId20"/>
    <p:sldId id="297" r:id="rId21"/>
    <p:sldId id="298" r:id="rId22"/>
    <p:sldId id="29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3204" autoAdjust="0"/>
  </p:normalViewPr>
  <p:slideViewPr>
    <p:cSldViewPr snapToGrid="0">
      <p:cViewPr varScale="1">
        <p:scale>
          <a:sx n="77" d="100"/>
          <a:sy n="77" d="100"/>
        </p:scale>
        <p:origin x="912" y="53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439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13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34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3330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2914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4013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C18F3-0DF7-C5A0-64DA-D74D560C3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B9BD32-B865-374C-C3B7-B58D905BBD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61D718-D89A-AB42-2166-87438509D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C1C5F-A3AB-730C-446D-4E74B53EBD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8103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0324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16A6D-1554-7BCB-661B-AAADC6A53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C359CE-9000-BE60-051D-8A333B047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904DDD-5ECE-D752-4C84-DB08AECC21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419ED-674D-6D61-CD21-A92C181D70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5385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82735-A689-BADF-E5F2-1BF06011E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25A0C6-0938-3DAC-F7FF-EB7DE86B7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4CD96-07E7-4D7A-EDA5-4A08A5D35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BDDAD-6F1E-A869-D540-20D989E397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6242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CF9E5-64BC-1B2C-826E-FC82AB1C3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8F8C34-6712-A7BE-7DA7-9303644902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8E1203-604D-C9E7-19E6-0E5D0D510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8F65A-EBF9-DDCF-D4A1-7F043BE60E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7960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41EFD-6A21-10DA-5078-3FC0D4049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62732A-539C-27A8-8137-FC81306FA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3936F4-12B1-FAF2-1E43-476D13ADC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AEBEB-C9E1-FDF0-3383-FB20B9EA78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795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7684" y="3267404"/>
            <a:ext cx="5099820" cy="359059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Awais Butt – 1254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Ahmad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hasan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1242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abdullah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Zubair - 1237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4EEE5E9-4310-3B39-2FD2-43336F140D5F}"/>
              </a:ext>
            </a:extLst>
          </p:cNvPr>
          <p:cNvSpPr txBox="1">
            <a:spLocks/>
          </p:cNvSpPr>
          <p:nvPr/>
        </p:nvSpPr>
        <p:spPr>
          <a:xfrm>
            <a:off x="2815914" y="735496"/>
            <a:ext cx="9272336" cy="16399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Loan Prediction System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16FED0-E31D-3598-FC4E-F6498318AB55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4938713" y="3295878"/>
            <a:ext cx="680987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Rapid growth of banking and financial 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volume of loan applications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loan approval is slow and error-prone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automated, intelligent decision systems</a:t>
            </a: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660358"/>
            <a:ext cx="6594768" cy="1425116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Background of the Study</a:t>
            </a:r>
          </a:p>
        </p:txBody>
      </p:sp>
      <p:pic>
        <p:nvPicPr>
          <p:cNvPr id="34" name="Picture Placeholder 33" descr="Aerial view of a neon highway intersection">
            <a:extLst>
              <a:ext uri="{FF2B5EF4-FFF2-40B4-BE49-F238E27FC236}">
                <a16:creationId xmlns:a16="http://schemas.microsoft.com/office/drawing/2014/main" id="{9289CE93-EC50-55DB-CFE0-1266AEC87B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936" r="24936"/>
          <a:stretch/>
        </p:blipFill>
        <p:spPr>
          <a:xfrm rot="10800000">
            <a:off x="1" y="761322"/>
            <a:ext cx="4076118" cy="6096678"/>
          </a:xfr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F466A906-2869-BB36-138E-D45F62E92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6186C3A-548E-AD87-3029-964123530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FD545440-39CD-F3F2-844E-E00E15690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694" y="2217175"/>
            <a:ext cx="620375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Traditional loan approval relies on human judgment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High chances of bias and inconsistency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Artificial Intelligence and Machine Learning enable data-driven decisions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ML models learn patterns from historical loan data</a:t>
            </a:r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544286"/>
            <a:ext cx="6594768" cy="2183670"/>
          </a:xfrm>
        </p:spPr>
        <p:txBody>
          <a:bodyPr>
            <a:normAutofit/>
          </a:bodyPr>
          <a:lstStyle/>
          <a:p>
            <a:r>
              <a:rPr lang="en-US" dirty="0"/>
              <a:t>Problem Statement</a:t>
            </a:r>
          </a:p>
        </p:txBody>
      </p:sp>
      <p:pic>
        <p:nvPicPr>
          <p:cNvPr id="13" name="Picture Placeholder 12" descr="Low angle view of tall buildings">
            <a:extLst>
              <a:ext uri="{FF2B5EF4-FFF2-40B4-BE49-F238E27FC236}">
                <a16:creationId xmlns:a16="http://schemas.microsoft.com/office/drawing/2014/main" id="{1DFE730E-30E7-DA99-A3EE-ACB889D161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3" r="43"/>
          <a:stretch/>
        </p:blipFill>
        <p:spPr>
          <a:xfrm>
            <a:off x="0" y="-1"/>
            <a:ext cx="4076118" cy="6096678"/>
          </a:xfr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5F855448-57DF-E468-AF41-00CAAC2D7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2FDA21-768F-9929-E6D6-D78CD4F8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D4AF5742-E1AA-C3F6-3291-81F829D05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694" y="3014683"/>
            <a:ext cx="659476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High loan processing time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Human bias in decision-making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Increased operational costs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Risk of approving non-eligible applicants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Lack of intelligent automated systems</a:t>
            </a:r>
          </a:p>
        </p:txBody>
      </p:sp>
    </p:spTree>
    <p:extLst>
      <p:ext uri="{BB962C8B-B14F-4D97-AF65-F5344CB8AC3E}">
        <p14:creationId xmlns:p14="http://schemas.microsoft.com/office/powerpoint/2010/main" val="1329539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1988706"/>
          </a:xfrm>
        </p:spPr>
        <p:txBody>
          <a:bodyPr/>
          <a:lstStyle/>
          <a:p>
            <a:r>
              <a:rPr lang="en-US" dirty="0"/>
              <a:t>Proposed Solution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E6D392A-13F3-C98A-9B79-0F8819683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1" y="1890465"/>
            <a:ext cx="724301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AI-based loan approval prediction system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Uses machine learning classification algorithms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Analyzes applicant financial and personal data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Provides prediction through a web-based interface</a:t>
            </a:r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5287" y="496637"/>
            <a:ext cx="9495208" cy="1090863"/>
          </a:xfrm>
        </p:spPr>
        <p:txBody>
          <a:bodyPr>
            <a:normAutofit/>
          </a:bodyPr>
          <a:lstStyle/>
          <a:p>
            <a:r>
              <a:rPr lang="en-US" dirty="0"/>
              <a:t>Objectives of the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8D8EF-09F7-2BAC-3EC4-6E8F4051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E8C734A-D12D-EB48-9490-B448B14EA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2232" y="1724603"/>
            <a:ext cx="665155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Develop an AI-based loan prediction system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Analyze customer data using ML techniques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Compare multiple ML algorithms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Reduce human bias in loan decisions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Provide real-time predictions via UI</a:t>
            </a:r>
          </a:p>
        </p:txBody>
      </p:sp>
    </p:spTree>
    <p:extLst>
      <p:ext uri="{BB962C8B-B14F-4D97-AF65-F5344CB8AC3E}">
        <p14:creationId xmlns:p14="http://schemas.microsoft.com/office/powerpoint/2010/main" val="3003251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820393"/>
          </a:xfrm>
        </p:spPr>
        <p:txBody>
          <a:bodyPr/>
          <a:lstStyle/>
          <a:p>
            <a:r>
              <a:rPr lang="en-US" dirty="0"/>
              <a:t>Scope of the Project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B15E94F6-C35B-CDBE-3E1A-12D00B443278}"/>
              </a:ext>
            </a:extLst>
          </p:cNvPr>
          <p:cNvSpPr txBox="1">
            <a:spLocks/>
          </p:cNvSpPr>
          <p:nvPr/>
        </p:nvSpPr>
        <p:spPr>
          <a:xfrm>
            <a:off x="5646739" y="1905641"/>
            <a:ext cx="3786020" cy="82039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Excluded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E4F87643-77E6-B388-194D-323BB4892289}"/>
              </a:ext>
            </a:extLst>
          </p:cNvPr>
          <p:cNvSpPr txBox="1">
            <a:spLocks/>
          </p:cNvSpPr>
          <p:nvPr/>
        </p:nvSpPr>
        <p:spPr>
          <a:xfrm>
            <a:off x="771524" y="1905640"/>
            <a:ext cx="3786020" cy="82039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included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04BAEE8-03C3-6786-2FEE-534BA4BC8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4" y="2570698"/>
            <a:ext cx="451485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Loan approval prediction (Approved / Rejected)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Supervised machine learning models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Web-based application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evaluation using metrics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9EE4963A-045B-CBAD-B79F-EDF44F22F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6739" y="2570698"/>
            <a:ext cx="451485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banking integration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Fraud detection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Credit score generation</a:t>
            </a:r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0" y="896111"/>
            <a:ext cx="7889768" cy="2039341"/>
          </a:xfrm>
        </p:spPr>
        <p:txBody>
          <a:bodyPr/>
          <a:lstStyle/>
          <a:p>
            <a:r>
              <a:rPr lang="en-US" dirty="0"/>
              <a:t>Significance of the Project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0D6578D-C0A1-5F90-B300-5E1BD9944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8709" y="2715450"/>
            <a:ext cx="709061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application of AI in finance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and more accurate decisions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operational cost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consistency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Practical exposure to ML and web development</a:t>
            </a:r>
          </a:p>
        </p:txBody>
      </p:sp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7877" y="930608"/>
            <a:ext cx="8384123" cy="785897"/>
          </a:xfrm>
        </p:spPr>
        <p:txBody>
          <a:bodyPr/>
          <a:lstStyle/>
          <a:p>
            <a:r>
              <a:rPr lang="en-US" dirty="0"/>
              <a:t>Tools and Technologies</a:t>
            </a:r>
          </a:p>
        </p:txBody>
      </p:sp>
      <p:pic>
        <p:nvPicPr>
          <p:cNvPr id="14" name="Picture Placeholder 13" descr="Woman walking in office">
            <a:extLst>
              <a:ext uri="{FF2B5EF4-FFF2-40B4-BE49-F238E27FC236}">
                <a16:creationId xmlns:a16="http://schemas.microsoft.com/office/drawing/2014/main" id="{206549BD-D8AF-D3BE-750E-5F8C50CCB5B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35913" r="35913"/>
          <a:stretch/>
        </p:blipFill>
        <p:spPr>
          <a:xfrm>
            <a:off x="1011337" y="9212"/>
            <a:ext cx="2029967" cy="4850544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441910-6501-5C60-C05A-BAFF34C2579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931820" y="1881606"/>
            <a:ext cx="7615274" cy="2978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Programming Language: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	Python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Libraries &amp; Frameworks: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	NumPy, Pandas</a:t>
            </a:r>
          </a:p>
          <a:p>
            <a:pPr marL="0" indent="0">
              <a:buNone/>
            </a:pPr>
            <a:r>
              <a:rPr lang="en-US" sz="2400" dirty="0"/>
              <a:t>	Scikit-learn</a:t>
            </a:r>
          </a:p>
          <a:p>
            <a:pPr marL="0" indent="0">
              <a:buNone/>
            </a:pPr>
            <a:r>
              <a:rPr lang="en-US" sz="2400" dirty="0"/>
              <a:t>	Flask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Frontend: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	HTML, CSS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C668341-39BE-4448-B29D-2594AE6D7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01853" y="2682814"/>
            <a:ext cx="274320" cy="2743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31C374B-40F2-4B1E-A9D8-6E5C932F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2824876"/>
            <a:ext cx="2011680" cy="7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32C7587B-DD64-0940-2F6D-21C5F453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5FB75C3E-5885-49DD-8190-BB1E8C51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96111"/>
            <a:ext cx="9866540" cy="963229"/>
          </a:xfrm>
        </p:spPr>
        <p:txBody>
          <a:bodyPr>
            <a:normAutofit/>
          </a:bodyPr>
          <a:lstStyle/>
          <a:p>
            <a:r>
              <a:rPr lang="en-US" dirty="0"/>
              <a:t>Literature Review Overview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40B739-30F9-C86F-67ED-2197DC1E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6E2724E-8B4B-1486-DE13-D07508692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2574" y="1859340"/>
            <a:ext cx="828123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Review of existing loan approval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 of ML in financial applications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Comparison of different ML algorithms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Identification of research gaps</a:t>
            </a:r>
          </a:p>
        </p:txBody>
      </p:sp>
    </p:spTree>
    <p:extLst>
      <p:ext uri="{BB962C8B-B14F-4D97-AF65-F5344CB8AC3E}">
        <p14:creationId xmlns:p14="http://schemas.microsoft.com/office/powerpoint/2010/main" val="4252466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1B29E87-9C2C-400B-834D-4E4BD6E94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55" y="896112"/>
            <a:ext cx="10665845" cy="1325563"/>
          </a:xfrm>
        </p:spPr>
        <p:txBody>
          <a:bodyPr/>
          <a:lstStyle/>
          <a:p>
            <a:r>
              <a:rPr lang="en-US" dirty="0"/>
              <a:t>Traditional vs ML-Based Systems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0EB401-2F91-2D90-C859-96484861E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6" name="Table Placeholder 5">
            <a:extLst>
              <a:ext uri="{FF2B5EF4-FFF2-40B4-BE49-F238E27FC236}">
                <a16:creationId xmlns:a16="http://schemas.microsoft.com/office/drawing/2014/main" id="{BA96CDF2-04D1-DA5F-7A70-A47DDEA469BA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424945771"/>
              </p:ext>
            </p:extLst>
          </p:nvPr>
        </p:nvGraphicFramePr>
        <p:xfrm>
          <a:off x="762000" y="2417762"/>
          <a:ext cx="10666412" cy="2847711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333206">
                  <a:extLst>
                    <a:ext uri="{9D8B030D-6E8A-4147-A177-3AD203B41FA5}">
                      <a16:colId xmlns:a16="http://schemas.microsoft.com/office/drawing/2014/main" val="461479905"/>
                    </a:ext>
                  </a:extLst>
                </a:gridCol>
                <a:gridCol w="5333206">
                  <a:extLst>
                    <a:ext uri="{9D8B030D-6E8A-4147-A177-3AD203B41FA5}">
                      <a16:colId xmlns:a16="http://schemas.microsoft.com/office/drawing/2014/main" val="3689774024"/>
                    </a:ext>
                  </a:extLst>
                </a:gridCol>
              </a:tblGrid>
              <a:tr h="674917">
                <a:tc>
                  <a:txBody>
                    <a:bodyPr/>
                    <a:lstStyle/>
                    <a:p>
                      <a:r>
                        <a:rPr lang="en-US" sz="2400" dirty="0"/>
                        <a:t>Traditional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ML-Based Systems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196185"/>
                  </a:ext>
                </a:extLst>
              </a:tr>
              <a:tr h="674917">
                <a:tc>
                  <a:txBody>
                    <a:bodyPr/>
                    <a:lstStyle/>
                    <a:p>
                      <a:r>
                        <a:rPr lang="en-US" sz="2400" dirty="0"/>
                        <a:t>Manual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Automated prediction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436725"/>
                  </a:ext>
                </a:extLst>
              </a:tr>
              <a:tr h="6749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Subjective decisions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Data-driven decisions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766192"/>
                  </a:ext>
                </a:extLst>
              </a:tr>
              <a:tr h="674917">
                <a:tc>
                  <a:txBody>
                    <a:bodyPr/>
                    <a:lstStyle/>
                    <a:p>
                      <a:r>
                        <a:rPr lang="en-US" sz="2400" dirty="0"/>
                        <a:t>Low 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High accuracy and scalability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491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6997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92013-A256-123D-86C9-CB0497D9D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9875" y="319695"/>
            <a:ext cx="8252125" cy="1569661"/>
          </a:xfrm>
        </p:spPr>
        <p:txBody>
          <a:bodyPr/>
          <a:lstStyle/>
          <a:p>
            <a:r>
              <a:rPr lang="en-US" dirty="0"/>
              <a:t>Machine Learning Algorithms Reviewed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9511E1-8421-BC72-BF36-64C9A3B50F5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703835" y="2418746"/>
            <a:ext cx="477470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Logistic Regression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Decision Tree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Random Forest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Support Vector Machine (SVM)</a:t>
            </a:r>
          </a:p>
        </p:txBody>
      </p:sp>
    </p:spTree>
    <p:extLst>
      <p:ext uri="{BB962C8B-B14F-4D97-AF65-F5344CB8AC3E}">
        <p14:creationId xmlns:p14="http://schemas.microsoft.com/office/powerpoint/2010/main" val="3886370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D7474-411F-31F0-4BB7-0B9403437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81E63-A2D2-C508-A519-1802FAB1A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0"/>
            <a:ext cx="6594768" cy="1365316"/>
          </a:xfrm>
        </p:spPr>
        <p:txBody>
          <a:bodyPr>
            <a:normAutofit/>
          </a:bodyPr>
          <a:lstStyle/>
          <a:p>
            <a:r>
              <a:rPr lang="en-US" dirty="0"/>
              <a:t>System Overview</a:t>
            </a:r>
          </a:p>
        </p:txBody>
      </p:sp>
      <p:pic>
        <p:nvPicPr>
          <p:cNvPr id="13" name="Picture Placeholder 12" descr="Low angle view of tall buildings">
            <a:extLst>
              <a:ext uri="{FF2B5EF4-FFF2-40B4-BE49-F238E27FC236}">
                <a16:creationId xmlns:a16="http://schemas.microsoft.com/office/drawing/2014/main" id="{984B603C-9338-321C-4457-7E3751534AF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3" r="43"/>
          <a:stretch/>
        </p:blipFill>
        <p:spPr>
          <a:xfrm>
            <a:off x="0" y="-1"/>
            <a:ext cx="4076118" cy="6096678"/>
          </a:xfr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11AB8E7C-5B50-6BAF-5A6F-69CF94B25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832EC8E-68C1-CF31-F4C9-ED4AE4B7F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87C28E6F-CC55-1300-D342-3C199AA15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694" y="1709510"/>
            <a:ext cx="551848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Web-based loan prediction application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User inputs applicant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Backend processes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ML model predicts loan status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1AC8F3B-78D9-B778-E3B0-4AB9B0C366E3}"/>
              </a:ext>
            </a:extLst>
          </p:cNvPr>
          <p:cNvSpPr txBox="1">
            <a:spLocks/>
          </p:cNvSpPr>
          <p:nvPr/>
        </p:nvSpPr>
        <p:spPr>
          <a:xfrm>
            <a:off x="4818500" y="4387165"/>
            <a:ext cx="6594768" cy="962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Main Components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FC693D0-4394-035F-32E3-778DD0E1D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694" y="5458592"/>
            <a:ext cx="3962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User 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Flask Backend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Machine Learning Model</a:t>
            </a:r>
          </a:p>
        </p:txBody>
      </p:sp>
    </p:spTree>
    <p:extLst>
      <p:ext uri="{BB962C8B-B14F-4D97-AF65-F5344CB8AC3E}">
        <p14:creationId xmlns:p14="http://schemas.microsoft.com/office/powerpoint/2010/main" val="1934537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C883-7528-F9C5-D6FA-15EC059A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96113"/>
            <a:ext cx="10668000" cy="873134"/>
          </a:xfrm>
        </p:spPr>
        <p:txBody>
          <a:bodyPr/>
          <a:lstStyle/>
          <a:p>
            <a:r>
              <a:rPr lang="en-US" dirty="0"/>
              <a:t>Dataset and Data Preprocessing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E69BA-FC91-08A5-671F-B53E6E989C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000" y="1769246"/>
            <a:ext cx="6681537" cy="47696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/>
              <a:t>Dataset Features:</a:t>
            </a:r>
            <a:endParaRPr lang="en-US" sz="3200" dirty="0"/>
          </a:p>
          <a:p>
            <a:r>
              <a:rPr lang="en-US" sz="2400" dirty="0"/>
              <a:t>Applicant income</a:t>
            </a:r>
          </a:p>
          <a:p>
            <a:r>
              <a:rPr lang="en-US" sz="2400" dirty="0"/>
              <a:t>Loan amount</a:t>
            </a:r>
          </a:p>
          <a:p>
            <a:r>
              <a:rPr lang="en-US" sz="2400" dirty="0"/>
              <a:t>Credit history</a:t>
            </a:r>
          </a:p>
          <a:p>
            <a:r>
              <a:rPr lang="en-US" sz="2400" dirty="0"/>
              <a:t>Assets information</a:t>
            </a:r>
          </a:p>
          <a:p>
            <a:pPr marL="0" indent="0">
              <a:buNone/>
            </a:pPr>
            <a:r>
              <a:rPr lang="en-US" sz="3200" b="1" dirty="0"/>
              <a:t>Preprocessing Steps:</a:t>
            </a:r>
            <a:endParaRPr lang="en-US" sz="3200" dirty="0"/>
          </a:p>
          <a:p>
            <a:r>
              <a:rPr lang="en-US" sz="2400" dirty="0"/>
              <a:t>Handling missing values</a:t>
            </a:r>
          </a:p>
          <a:p>
            <a:r>
              <a:rPr lang="en-US" sz="2400" dirty="0"/>
              <a:t>Encoding categorical data</a:t>
            </a:r>
          </a:p>
          <a:p>
            <a:r>
              <a:rPr lang="en-US" sz="2400" dirty="0"/>
              <a:t>Feature scaling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3FE259-B742-148B-88EA-EAE84226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678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4572B-008E-F7D2-1DA0-196EFA4BC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2CA01-0E65-4A31-B6A6-2DD6F572D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96113"/>
            <a:ext cx="10668000" cy="873134"/>
          </a:xfrm>
        </p:spPr>
        <p:txBody>
          <a:bodyPr/>
          <a:lstStyle/>
          <a:p>
            <a:r>
              <a:rPr lang="en-US" dirty="0"/>
              <a:t>Machine Learning Methodology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C43900-CB54-F1C3-82F8-A90B70A538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000" y="1769246"/>
            <a:ext cx="8686800" cy="47696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Binary classification problem</a:t>
            </a:r>
          </a:p>
          <a:p>
            <a:pPr marL="0" indent="0">
              <a:buNone/>
            </a:pPr>
            <a:r>
              <a:rPr lang="en-US" sz="2400" dirty="0"/>
              <a:t>Loan Approved / Loan Rejected</a:t>
            </a:r>
          </a:p>
          <a:p>
            <a:pPr marL="0" indent="0">
              <a:buNone/>
            </a:pPr>
            <a:r>
              <a:rPr lang="en-US" sz="2400" dirty="0"/>
              <a:t>Train-test split (80:20)</a:t>
            </a:r>
          </a:p>
          <a:p>
            <a:pPr marL="0" indent="0">
              <a:buNone/>
            </a:pPr>
            <a:r>
              <a:rPr lang="en-US" sz="2400" dirty="0"/>
              <a:t>Model training and evaluation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Evaluation Metrics:</a:t>
            </a:r>
            <a:endParaRPr lang="en-US" sz="2400" dirty="0"/>
          </a:p>
          <a:p>
            <a:r>
              <a:rPr lang="en-US" sz="2400" dirty="0"/>
              <a:t>Accuracy</a:t>
            </a:r>
          </a:p>
          <a:p>
            <a:r>
              <a:rPr lang="en-US" sz="2400" dirty="0"/>
              <a:t>Precision</a:t>
            </a:r>
          </a:p>
          <a:p>
            <a:r>
              <a:rPr lang="en-US" sz="2400" dirty="0"/>
              <a:t>Recall</a:t>
            </a:r>
          </a:p>
          <a:p>
            <a:r>
              <a:rPr lang="en-US" sz="2400" dirty="0"/>
              <a:t>F1-Score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566342-743F-24A3-CA20-A9176BD8C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183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3EF69-EF78-1EA7-2FF5-CBC6CA49E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6D3FEB99-6FFE-2353-A738-43716AC64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96111"/>
            <a:ext cx="9866540" cy="963229"/>
          </a:xfrm>
        </p:spPr>
        <p:txBody>
          <a:bodyPr>
            <a:normAutofit/>
          </a:bodyPr>
          <a:lstStyle/>
          <a:p>
            <a:r>
              <a:rPr lang="en-US" dirty="0"/>
              <a:t>Implementation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3CED026-35F6-D4C2-932B-FEF0E95A0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F68EB49-7148-79DC-B7AB-C1BAD7FCD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2574" y="1859340"/>
            <a:ext cx="828123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Machine Learning: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Models trained using Scikit-learn</a:t>
            </a:r>
          </a:p>
          <a:p>
            <a:r>
              <a:rPr lang="en-US" sz="2400" dirty="0">
                <a:solidFill>
                  <a:schemeClr val="bg1"/>
                </a:solidFill>
              </a:rPr>
              <a:t>Best model saved for deployment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Backend: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Flask framework</a:t>
            </a:r>
          </a:p>
          <a:p>
            <a:r>
              <a:rPr lang="en-US" sz="2400" dirty="0">
                <a:solidFill>
                  <a:schemeClr val="bg1"/>
                </a:solidFill>
              </a:rPr>
              <a:t>Handles user requests and predictions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Frontend: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Simple and user-friendly interface</a:t>
            </a:r>
          </a:p>
        </p:txBody>
      </p:sp>
    </p:spTree>
    <p:extLst>
      <p:ext uri="{BB962C8B-B14F-4D97-AF65-F5344CB8AC3E}">
        <p14:creationId xmlns:p14="http://schemas.microsoft.com/office/powerpoint/2010/main" val="3581799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852D4-EDAD-B858-E215-49C8FD661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A55D8-3F31-F796-194C-374BCDC5D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6752" y="511101"/>
            <a:ext cx="7889768" cy="1349784"/>
          </a:xfrm>
        </p:spPr>
        <p:txBody>
          <a:bodyPr/>
          <a:lstStyle/>
          <a:p>
            <a:r>
              <a:rPr lang="en-US" dirty="0"/>
              <a:t>Results and Performance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9AEC7A7-4FFD-CCD2-FA4B-2F6839F58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2C509CC-7C75-140C-D7EE-B1CD1C74B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6752" y="1860885"/>
            <a:ext cx="709061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Accuracy Comparison:</a:t>
            </a:r>
          </a:p>
          <a:p>
            <a:endParaRPr lang="en-US" sz="2400" dirty="0"/>
          </a:p>
          <a:p>
            <a:r>
              <a:rPr lang="en-US" sz="2400" dirty="0"/>
              <a:t>Logistic Regression: 81%</a:t>
            </a:r>
          </a:p>
          <a:p>
            <a:endParaRPr lang="en-US" sz="2400" dirty="0"/>
          </a:p>
          <a:p>
            <a:r>
              <a:rPr lang="en-US" sz="2400" dirty="0"/>
              <a:t>Decision Tree: 74%</a:t>
            </a:r>
          </a:p>
          <a:p>
            <a:endParaRPr lang="en-US" sz="2400" dirty="0"/>
          </a:p>
          <a:p>
            <a:r>
              <a:rPr lang="en-US" sz="2400" dirty="0"/>
              <a:t>Random Forest: 83%</a:t>
            </a:r>
          </a:p>
          <a:p>
            <a:endParaRPr lang="en-US" sz="2400" dirty="0"/>
          </a:p>
          <a:p>
            <a:r>
              <a:rPr lang="en-US" sz="2400" dirty="0"/>
              <a:t>SVM: 79%</a:t>
            </a:r>
          </a:p>
          <a:p>
            <a:endParaRPr lang="en-US" sz="2400" b="1" dirty="0"/>
          </a:p>
          <a:p>
            <a:endParaRPr lang="en-US" sz="2400" b="1" dirty="0"/>
          </a:p>
          <a:p>
            <a:r>
              <a:rPr lang="en-US" sz="2400" b="1" dirty="0"/>
              <a:t>Best Model:</a:t>
            </a:r>
            <a:r>
              <a:rPr lang="en-US" sz="2400" dirty="0"/>
              <a:t> Random Forest</a:t>
            </a:r>
          </a:p>
        </p:txBody>
      </p:sp>
    </p:spTree>
    <p:extLst>
      <p:ext uri="{BB962C8B-B14F-4D97-AF65-F5344CB8AC3E}">
        <p14:creationId xmlns:p14="http://schemas.microsoft.com/office/powerpoint/2010/main" val="1650889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16508-6AB8-1AB5-50B5-A68E91397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1EE56-6276-4E47-9448-382D67109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1988706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B7995-53C7-6231-323D-3BF9C157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9F4250-C7DC-A8DD-80A3-C3D6511C6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1" y="1890465"/>
            <a:ext cx="636069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Successfully developed AI-based loan prediction system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Random Forest achieved highest accuracy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System provides fast and unbiased predictions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Demonstrates practical use of ML in finance</a:t>
            </a:r>
          </a:p>
        </p:txBody>
      </p:sp>
    </p:spTree>
    <p:extLst>
      <p:ext uri="{BB962C8B-B14F-4D97-AF65-F5344CB8AC3E}">
        <p14:creationId xmlns:p14="http://schemas.microsoft.com/office/powerpoint/2010/main" val="598131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7D1A8-2B68-172A-61FD-2445991F1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1979" y="1633702"/>
            <a:ext cx="8539106" cy="3590596"/>
          </a:xfrm>
        </p:spPr>
        <p:txBody>
          <a:bodyPr>
            <a:normAutofit/>
          </a:bodyPr>
          <a:lstStyle/>
          <a:p>
            <a:r>
              <a:rPr lang="en-US" sz="100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24869062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Colorful abstract pitch deck</Template>
  <TotalTime>732</TotalTime>
  <Words>503</Words>
  <Application>Microsoft Office PowerPoint</Application>
  <PresentationFormat>Widescreen</PresentationFormat>
  <Paragraphs>201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Avenir Next LT Pro</vt:lpstr>
      <vt:lpstr>Calibri</vt:lpstr>
      <vt:lpstr>Wingdings</vt:lpstr>
      <vt:lpstr>Custom</vt:lpstr>
      <vt:lpstr>Presented By:  Awais Butt – 1254 Ahmad hasan – 1242 abdullah Zubair - 1237</vt:lpstr>
      <vt:lpstr>Introduction</vt:lpstr>
      <vt:lpstr>Background of the Study</vt:lpstr>
      <vt:lpstr>Problem Statement</vt:lpstr>
      <vt:lpstr>Proposed Solution</vt:lpstr>
      <vt:lpstr>Objectives of the Project</vt:lpstr>
      <vt:lpstr>Scope of the Project</vt:lpstr>
      <vt:lpstr>Significance of the Project</vt:lpstr>
      <vt:lpstr>Tools and Technologies</vt:lpstr>
      <vt:lpstr>Literature Review Overview</vt:lpstr>
      <vt:lpstr>Traditional vs ML-Based Systems</vt:lpstr>
      <vt:lpstr>Machine Learning Algorithms Reviewed</vt:lpstr>
      <vt:lpstr>System Overview</vt:lpstr>
      <vt:lpstr>Dataset and Data Preprocessing</vt:lpstr>
      <vt:lpstr>Machine Learning Methodology</vt:lpstr>
      <vt:lpstr>Implementation</vt:lpstr>
      <vt:lpstr>Results and Performance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Saqib Khokhar</dc:creator>
  <cp:lastModifiedBy>Saqib Khokhar</cp:lastModifiedBy>
  <cp:revision>4</cp:revision>
  <dcterms:created xsi:type="dcterms:W3CDTF">2026-01-06T20:06:15Z</dcterms:created>
  <dcterms:modified xsi:type="dcterms:W3CDTF">2026-01-11T13:47:27Z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